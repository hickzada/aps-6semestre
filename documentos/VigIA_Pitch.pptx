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Arial"/>
              </a:rPr>
              <a:t>Consumo estimado de energia com iluminação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Consumo de iluminação (%)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Ambiente sem VigIA</c:v>
                  </c:pt>
                  <c:pt idx="1">
                    <c:v>Ambiente com VigIA (estimado)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FCFC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0A4B5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FCFC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0A4B52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846320"/>
            <a:ext cx="3291840" cy="3291840"/>
          </a:xfrm>
          <a:prstGeom prst="ellipse">
            <a:avLst/>
          </a:prstGeom>
          <a:solidFill>
            <a:srgbClr val="0A4B5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96596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VigIA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063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computacional a serviço da sustentabilidade energética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 — Processamento Digital de Imagens e Visão Computacional  |  2026/2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3794760"/>
            <a:ext cx="502920" cy="45720"/>
          </a:xfrm>
          <a:prstGeom prst="rect">
            <a:avLst/>
          </a:prstGeom>
          <a:solidFill>
            <a:srgbClr val="00A89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3A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Você sabia?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874520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47%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3063240"/>
            <a:ext cx="2788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toda a eletricidade consumida no Brasil em 2023 foi usada dentro de edificações — casas, comércio e prédios públicos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89120" y="155448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389120" y="1874520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R$ 61,7 bi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3063240"/>
            <a:ext cx="2788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 o valor jogado fora com desperdício de energia elétrica no Brasil, somando só 2015 a 2017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138160" y="155448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138160" y="1874520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43 TWh/ano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458200" y="3063240"/>
            <a:ext cx="2788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desperdício elétrico estimado no Brasil — equivalente ao consumo de 20 milhões de residências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26364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EPE — Atlas da Eficiência Energética Brasil 2024 (ano-base 2023, gov.br); Abesco — Associação Brasileira das Empresas de Serviços de Conservação de Energia; FIESC — Federação das Indústrias de Santa Catarina (2022).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3A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 problema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!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73736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Prédios que nunca desligam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2167128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Escolas públicas e prédios comerciais ficam com luzes acesas 24h por dia — inclusive em salas vazias, corredores e banheiros, mesmo à noite e nos finais de semana.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33375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!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32461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Dinheiro público sendo queimado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3675888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escola pública, essa conta é paga com verba de manutenção — recurso que poderia ir para material didático, reforma ou merenda.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48463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846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!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475488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Desperdício não é exceção, é regra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5184648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Levantamentos com dezenas de escolas em diferentes municípios mostram que o uso racional de energia ainda não é realidade: o consumo cresce ano após ano sem controle real de ocupação.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Por que isso é sustentabilidade ambiental?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67665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4F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 elétrica não usada com consciência tem pegada ambiental real: 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geração térmica acionada, mais emissão de carbono, mais pressão sobre reservatórios e mais recursos naturais explorados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4F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compensar um consumo que, na prática, não teve nenhum benefício — porque não havia ninguém no ambiente para usar aquela luz.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A89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47%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2578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eletricidade do Brasil (2023) é consumida dentro de edificações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A89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24%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52578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consumo elétrico nacional é só do setor público — escolas incluídas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503920" y="1417320"/>
            <a:ext cx="2834640" cy="4663440"/>
          </a:xfrm>
          <a:prstGeom prst="rect">
            <a:avLst/>
          </a:prstGeom>
          <a:solidFill>
            <a:srgbClr val="0A4B5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0" y="1737360"/>
            <a:ext cx="502920" cy="41148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10" name="Shape 8"/>
          <p:cNvSpPr/>
          <p:nvPr/>
        </p:nvSpPr>
        <p:spPr>
          <a:xfrm>
            <a:off x="9555480" y="1737360"/>
            <a:ext cx="502920" cy="411480"/>
          </a:xfrm>
          <a:prstGeom prst="rect">
            <a:avLst/>
          </a:prstGeom>
          <a:solidFill>
            <a:srgbClr val="133B40"/>
          </a:solidFill>
          <a:ln/>
        </p:spPr>
      </p:sp>
      <p:sp>
        <p:nvSpPr>
          <p:cNvPr id="11" name="Shape 9"/>
          <p:cNvSpPr/>
          <p:nvPr/>
        </p:nvSpPr>
        <p:spPr>
          <a:xfrm>
            <a:off x="10332720" y="1737360"/>
            <a:ext cx="502920" cy="41148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12" name="Shape 10"/>
          <p:cNvSpPr/>
          <p:nvPr/>
        </p:nvSpPr>
        <p:spPr>
          <a:xfrm>
            <a:off x="8778240" y="2423160"/>
            <a:ext cx="502920" cy="41148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13" name="Shape 11"/>
          <p:cNvSpPr/>
          <p:nvPr/>
        </p:nvSpPr>
        <p:spPr>
          <a:xfrm>
            <a:off x="9555480" y="2423160"/>
            <a:ext cx="502920" cy="41148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14" name="Shape 12"/>
          <p:cNvSpPr/>
          <p:nvPr/>
        </p:nvSpPr>
        <p:spPr>
          <a:xfrm>
            <a:off x="10332720" y="2423160"/>
            <a:ext cx="502920" cy="41148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15" name="Shape 13"/>
          <p:cNvSpPr/>
          <p:nvPr/>
        </p:nvSpPr>
        <p:spPr>
          <a:xfrm>
            <a:off x="8778240" y="3108960"/>
            <a:ext cx="502920" cy="41148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16" name="Shape 14"/>
          <p:cNvSpPr/>
          <p:nvPr/>
        </p:nvSpPr>
        <p:spPr>
          <a:xfrm>
            <a:off x="9555480" y="3108960"/>
            <a:ext cx="502920" cy="411480"/>
          </a:xfrm>
          <a:prstGeom prst="rect">
            <a:avLst/>
          </a:prstGeom>
          <a:solidFill>
            <a:srgbClr val="133B40"/>
          </a:solidFill>
          <a:ln/>
        </p:spPr>
      </p:sp>
      <p:sp>
        <p:nvSpPr>
          <p:cNvPr id="17" name="Shape 15"/>
          <p:cNvSpPr/>
          <p:nvPr/>
        </p:nvSpPr>
        <p:spPr>
          <a:xfrm>
            <a:off x="10332720" y="3108960"/>
            <a:ext cx="502920" cy="41148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18" name="Shape 16"/>
          <p:cNvSpPr/>
          <p:nvPr/>
        </p:nvSpPr>
        <p:spPr>
          <a:xfrm>
            <a:off x="8778240" y="3794760"/>
            <a:ext cx="502920" cy="411480"/>
          </a:xfrm>
          <a:prstGeom prst="rect">
            <a:avLst/>
          </a:prstGeom>
          <a:solidFill>
            <a:srgbClr val="133B40"/>
          </a:solidFill>
          <a:ln/>
        </p:spPr>
      </p:sp>
      <p:sp>
        <p:nvSpPr>
          <p:cNvPr id="19" name="Shape 17"/>
          <p:cNvSpPr/>
          <p:nvPr/>
        </p:nvSpPr>
        <p:spPr>
          <a:xfrm>
            <a:off x="9555480" y="3794760"/>
            <a:ext cx="502920" cy="41148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20" name="Shape 18"/>
          <p:cNvSpPr/>
          <p:nvPr/>
        </p:nvSpPr>
        <p:spPr>
          <a:xfrm>
            <a:off x="10332720" y="3794760"/>
            <a:ext cx="502920" cy="41148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21" name="Shape 19"/>
          <p:cNvSpPr/>
          <p:nvPr/>
        </p:nvSpPr>
        <p:spPr>
          <a:xfrm>
            <a:off x="8778240" y="4480560"/>
            <a:ext cx="502920" cy="41148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22" name="Shape 20"/>
          <p:cNvSpPr/>
          <p:nvPr/>
        </p:nvSpPr>
        <p:spPr>
          <a:xfrm>
            <a:off x="9555480" y="4480560"/>
            <a:ext cx="502920" cy="411480"/>
          </a:xfrm>
          <a:prstGeom prst="rect">
            <a:avLst/>
          </a:prstGeom>
          <a:solidFill>
            <a:srgbClr val="133B40"/>
          </a:solidFill>
          <a:ln/>
        </p:spPr>
      </p:sp>
      <p:sp>
        <p:nvSpPr>
          <p:cNvPr id="23" name="Shape 21"/>
          <p:cNvSpPr/>
          <p:nvPr/>
        </p:nvSpPr>
        <p:spPr>
          <a:xfrm>
            <a:off x="10332720" y="4480560"/>
            <a:ext cx="502920" cy="41148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24" name="Shape 22"/>
          <p:cNvSpPr/>
          <p:nvPr/>
        </p:nvSpPr>
        <p:spPr>
          <a:xfrm>
            <a:off x="8778240" y="5166360"/>
            <a:ext cx="502920" cy="411480"/>
          </a:xfrm>
          <a:prstGeom prst="rect">
            <a:avLst/>
          </a:prstGeom>
          <a:solidFill>
            <a:srgbClr val="133B40"/>
          </a:solidFill>
          <a:ln/>
        </p:spPr>
      </p:sp>
      <p:sp>
        <p:nvSpPr>
          <p:cNvPr id="25" name="Shape 23"/>
          <p:cNvSpPr/>
          <p:nvPr/>
        </p:nvSpPr>
        <p:spPr>
          <a:xfrm>
            <a:off x="9555480" y="5166360"/>
            <a:ext cx="502920" cy="411480"/>
          </a:xfrm>
          <a:prstGeom prst="rect">
            <a:avLst/>
          </a:prstGeom>
          <a:solidFill>
            <a:srgbClr val="133B40"/>
          </a:solidFill>
          <a:ln/>
        </p:spPr>
      </p:sp>
      <p:sp>
        <p:nvSpPr>
          <p:cNvPr id="26" name="Shape 24"/>
          <p:cNvSpPr/>
          <p:nvPr/>
        </p:nvSpPr>
        <p:spPr>
          <a:xfrm>
            <a:off x="10332720" y="5166360"/>
            <a:ext cx="502920" cy="41148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321040" y="6217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FB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Prédio comercial às 2h da manhã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3550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EPE — Atlas da Eficiência Energética Brasil 2024 (ano-base 2023).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3A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Quanto isso pode significar pra uma empresa?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só planeta: é conta de luz. Estudos de engenharia energética mostram o tamanho do desperdício e o quanto dá pra recuperar.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tamanho do problema hoje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14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30%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15468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nível médio de desperdício de energia em vários setores da economia — passando de 45% na indústria em horários de baixa atividade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14400" y="4160520"/>
            <a:ext cx="4480560" cy="0"/>
          </a:xfrm>
          <a:prstGeom prst="line">
            <a:avLst/>
          </a:prstGeom>
          <a:noFill/>
          <a:ln w="12700">
            <a:solidFill>
              <a:srgbClr val="E2EA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43434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R$ 61,7 bi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98348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 o prejuízo com desperdício de energia elétrica no Brasil entre 2015 e 2017 (Abesco)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89320" y="178308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013A4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63640" y="2011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dá pra recuperar com VigIA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51460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20% a 60%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324612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4F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redução no consumo de iluminação é a faixa observada em estudos de controle por sensor de presença — média de ~30% (ACEEE; EPRI/ASHRAE)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63640" y="4251960"/>
            <a:ext cx="4709160" cy="0"/>
          </a:xfrm>
          <a:prstGeom prst="line">
            <a:avLst/>
          </a:prstGeom>
          <a:noFill/>
          <a:ln w="12700">
            <a:solidFill>
              <a:srgbClr val="0A4B5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4434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ilustrativo: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475488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prédio que gasta R$ 5.000/mês com iluminação → economia de ~30% = R$ 1.500/mês → cerca de R$ 18.000 por ano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172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Cenário Energia (2026); ABESCO; ACEEE — Quantifying National Energy Savings Potential of Lighting Controls (2012); estudos citando estimativas EPRI/ASHRAE de eficiência em iluminação comercial. Valor em R$ é ilustrativo, não uma promessa de economia.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3A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solução: VigIA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sistema de visão computacional que decide, em tempo real, se um ambiente precisa mesmo estar iluminado.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0749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860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19456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Reaproveita o que já existe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06040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as câmeras de segurança que a escola/prédio já tem instaladas — sem precisar de uma câmera por lâmpada.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89320" y="2011680"/>
            <a:ext cx="50749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22860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6364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219456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presença por imagem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903720" y="2606040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digital de imagens analisa o quadro capturado e decide, com segurança, se há alguém no ambiente.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50749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2519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16052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infravermelho como gatilho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572000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que a luz apaga, um sensor de presença (PIR) fica de guarda e só aciona a câmera quando há movimento real.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89320" y="3977640"/>
            <a:ext cx="50749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63640" y="42519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6364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416052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no mesmo instante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4572000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detectar movimento, a foto é tirada e analisada na hora — a luz liga no mesmo segundo, sem o atraso de sensores comuns.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13A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Como funciona, passo a passo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280160" y="2148840"/>
            <a:ext cx="1572768" cy="0"/>
          </a:xfrm>
          <a:prstGeom prst="line">
            <a:avLst/>
          </a:prstGeom>
          <a:noFill/>
          <a:ln w="25400">
            <a:solidFill>
              <a:srgbClr val="C9D8D8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91440" y="26974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1440" y="3063240"/>
            <a:ext cx="1965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Câmera de segurança tira uma foto do ambiente a cada intervalo de tempo definido.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852928" y="18288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52928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93008" y="2148840"/>
            <a:ext cx="1572768" cy="0"/>
          </a:xfrm>
          <a:prstGeom prst="line">
            <a:avLst/>
          </a:prstGeom>
          <a:noFill/>
          <a:ln w="25400">
            <a:solidFill>
              <a:srgbClr val="C9D8D8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2304288" y="26974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2304288" y="3063240"/>
            <a:ext cx="1965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de imagem tratam o quadro (ruído, contraste, realce) para preparar a análise.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65776" y="18288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65776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705856" y="2148840"/>
            <a:ext cx="1572768" cy="0"/>
          </a:xfrm>
          <a:prstGeom prst="line">
            <a:avLst/>
          </a:prstGeom>
          <a:noFill/>
          <a:ln w="25400">
            <a:solidFill>
              <a:srgbClr val="C9D8D8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4517136" y="26974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517136" y="3063240"/>
            <a:ext cx="1965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visão computacional verifica se há presença humana na cena.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278624" y="18288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278624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918704" y="2148840"/>
            <a:ext cx="1572768" cy="0"/>
          </a:xfrm>
          <a:prstGeom prst="line">
            <a:avLst/>
          </a:prstGeom>
          <a:noFill/>
          <a:ln w="25400">
            <a:solidFill>
              <a:srgbClr val="C9D8D8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6729984" y="26974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729984" y="3063240"/>
            <a:ext cx="1965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pessoas → apaga a luz e desliga a câmera; entra em modo de espera com o sensor IV.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491472" y="182880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91472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8942832" y="26974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Reativação instantânea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8942832" y="3063240"/>
            <a:ext cx="1965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infravermelho detecta movimento → câmera liga, tira e analisa a foto, e a luz acende no mesmo segundo.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539496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F4F9F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4400" y="5468112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duas etapas (câmera + infravermelho)? Câmera ligada o tempo todo custaria caro e processaria imagem sem necessidade; o infravermelho é barato e fica de "sentinela", acordando o sistema de visão só quando há motivo real.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3A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Por que não só sensor de presença comum?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4114800"/>
        </p:xfrm>
        <a:graphic>
          <a:graphicData uri="http://schemas.openxmlformats.org/drawingml/2006/table">
            <a:tbl>
              <a:tblPr/>
              <a:tblGrid>
                <a:gridCol w="2720340"/>
                <a:gridCol w="2720340"/>
                <a:gridCol w="2720340"/>
                <a:gridCol w="272034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PIR simples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B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Câmera em cada luz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B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VigIA (proposta)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de instalação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(1 câmera por ponto)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Baixo (usa câmeras já existentes)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 se é pessoa (x objeto/sombra)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Falsos acionamentos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Velocidade de resposta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Imediata, mas "cega"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atraso de processamento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Imediata e "inteligente"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ganho do VigIA: a inteligência de uma câmera dedicada por ambiente, com o custo de um sensor de presença.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13A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Metodologia técnica e acadêmica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474720" cy="4480560"/>
          </a:xfrm>
          <a:prstGeom prst="roundRect">
            <a:avLst>
              <a:gd name="adj" fmla="val 2632"/>
            </a:avLst>
          </a:prstGeom>
          <a:solidFill>
            <a:srgbClr val="F4F9F8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17320"/>
            <a:ext cx="347472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de imagem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8600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5000"/>
              </a:lnSpc>
              <a:buSzPct val="100000"/>
              <a:buChar char="▪"/>
            </a:pPr>
            <a:r>
              <a:rPr lang="en-US" sz="1200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Aquisição das imagens da câmera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33756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5000"/>
              </a:lnSpc>
              <a:buSzPct val="100000"/>
              <a:buChar char="▪"/>
            </a:pPr>
            <a:r>
              <a:rPr lang="en-US" sz="1200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de pré-processamento (ruído, contraste, realce de bordas)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38912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5000"/>
              </a:lnSpc>
              <a:buSzPct val="100000"/>
              <a:buChar char="▪"/>
            </a:pPr>
            <a:r>
              <a:rPr lang="en-US" sz="1200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para isolar áreas de interesse na cena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417320"/>
            <a:ext cx="3474720" cy="4480560"/>
          </a:xfrm>
          <a:prstGeom prst="roundRect">
            <a:avLst>
              <a:gd name="adj" fmla="val 2632"/>
            </a:avLst>
          </a:prstGeom>
          <a:solidFill>
            <a:srgbClr val="F4F9F8"/>
          </a:solidFill>
          <a:ln/>
        </p:spPr>
      </p:sp>
      <p:sp>
        <p:nvSpPr>
          <p:cNvPr id="10" name="Shape 8"/>
          <p:cNvSpPr/>
          <p:nvPr/>
        </p:nvSpPr>
        <p:spPr>
          <a:xfrm>
            <a:off x="4389120" y="1417320"/>
            <a:ext cx="3474720" cy="640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89120" y="14173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computacional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28600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5000"/>
              </a:lnSpc>
              <a:buSzPct val="100000"/>
              <a:buChar char="▪"/>
            </a:pPr>
            <a:r>
              <a:rPr lang="en-US" sz="1200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detecção de presença humana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33756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5000"/>
              </a:lnSpc>
              <a:buSzPct val="100000"/>
              <a:buChar char="▪"/>
            </a:pPr>
            <a:r>
              <a:rPr lang="en-US" sz="1200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e testes com imagens reais do ambiente escolhido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438912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5000"/>
              </a:lnSpc>
              <a:buSzPct val="100000"/>
              <a:buChar char="▪"/>
            </a:pPr>
            <a:r>
              <a:rPr lang="en-US" sz="1200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acurácia e de falsos positivos/negativos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1417320"/>
            <a:ext cx="3474720" cy="4480560"/>
          </a:xfrm>
          <a:prstGeom prst="roundRect">
            <a:avLst>
              <a:gd name="adj" fmla="val 2632"/>
            </a:avLst>
          </a:prstGeom>
          <a:solidFill>
            <a:srgbClr val="F4F9F8"/>
          </a:solidFill>
          <a:ln/>
        </p:spPr>
      </p:sp>
      <p:sp>
        <p:nvSpPr>
          <p:cNvPr id="16" name="Shape 14"/>
          <p:cNvSpPr/>
          <p:nvPr/>
        </p:nvSpPr>
        <p:spPr>
          <a:xfrm>
            <a:off x="8138160" y="1417320"/>
            <a:ext cx="3474720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138160" y="14173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integrado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228600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5000"/>
              </a:lnSpc>
              <a:buSzPct val="100000"/>
              <a:buChar char="▪"/>
            </a:pPr>
            <a:r>
              <a:rPr lang="en-US" sz="1200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decisão (apagar / manter / religar)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333756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5000"/>
              </a:lnSpc>
              <a:buSzPct val="100000"/>
              <a:buChar char="▪"/>
            </a:pPr>
            <a:r>
              <a:rPr lang="en-US" sz="1200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sensor infravermelho (gatilho)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438912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5000"/>
              </a:lnSpc>
              <a:buSzPct val="100000"/>
              <a:buChar char="▪"/>
            </a:pPr>
            <a:r>
              <a:rPr lang="en-US" sz="1200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funcional em Python, com testes em cena real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 que esperamos entregar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371600"/>
          <a:ext cx="55778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583680" y="1508760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040880" y="146304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4F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funcional testado em um ambiente real (sala de aula ou escritório)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583680" y="2514600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040880" y="246888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4F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mensurável no tempo de luz acesa sem ocupação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583680" y="3520440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040880" y="347472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4F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com métricas de acurácia da detecção de presença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583680" y="4526280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040880" y="448056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4F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replicável para outras salas, prédios e escolas da rede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5669280"/>
            <a:ext cx="3108960" cy="3108960"/>
          </a:xfrm>
          <a:prstGeom prst="ellipse">
            <a:avLst/>
          </a:prstGeom>
          <a:solidFill>
            <a:srgbClr val="0A4B5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1188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Nosso pedido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05740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F4F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Aprovem o VigIA como nosso projeto de APS. Não é só um sistema de economia de energia — é a aplicação real de processamento de imagens e visão computacional resolvendo um problema de sustentabilidade que está, literalmente, na tomada de cada sala de aula.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42976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VigIA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5074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energia desperdiçada. Mais visão computacional aplicada de verdade.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3A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Referências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961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(normas ABNT NBR 6023)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ASSOCIAÇÃO BRASILEIRA DAS EMPRESAS DE SERVIÇOS DE CONSERVAÇÃO DE ENERGIA (ABESCO). Desperdício de energia elétrica no Brasil, 2015–2017. Citado em: DESPERDÍCIO de energia: o vilão da eficiência energética no Brasil. OMS Engenharia, 2022. Disponível em: https://omsengenharia.com.br/noticias/desperdicio-de-energia/. Acesso em: 12 set. 2026.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12848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COUNCIL FOR AN ENERGY-EFFICIENT ECONOMY (ACEEE). Quantifying national energy savings potential of lighting controls in commercial buildings. Washington, DC: ACEEE, 2012. Disponível em: https://www.aceee.org/files/proceedings/2012/data/papers/0193-000071.pdf. Acesso em: 12 set. 2026.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08376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ENERGIA. Desperdício de energia custa R$ 61,7 bilhões ao ano e expõe risco estratégico para o Brasil em cenário de crise global. 2026. Disponível em: https://cenarioenergia.com.br/2026/04/23/desperdicio-de-energia-custa-r-617-bilhoes-ao-ano-e-expoe-risco-estrategico-para-o-brasil-em-cenario-de-crise-global/. Acesso em: 12 set. 2026.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803904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DE PESQUISA ENERGÉTICA (EPE). Atlas da eficiência energética – Brasil 2024: ano-base 2023. Brasília, DF: EPE; Ministério de Minas e Energia, 2024. Disponível em: https://www.epe.gov.br/sites-pt/publicacoes-dados-abertos/publicacoes/PublicacoesArquivos/publicacao-857/Atlas%20da%20Efici%C3%AAncia%20Energ%C3%A9tica%20Brasil%202024.pdf. Acesso em: 12 set. 2026.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59943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DE PESQUISA ENERGÉTICA (EPE). Manual metodológico do Atlas da eficiência energética Brasil 2024. Nota Técnica EPE-DEA-SEE-018/2024. Rio de Janeiro: EPE, 2024. Disponível em: https://www.epe.gov.br/sites-pt/publicacoes-dados-abertos/publicacoes/PublicacoesArquivos/publicacao-855/NT-EPE-DEA-SEE-018-2024.pdf. Acesso em: 12 set. 2026.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3949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FEDERAÇÃO DAS INDÚSTRIAS DO ESTADO DE SANTA CATARINA (FIESC). Desperdício elétrico no Brasil equivale ao consumo de 20 milhões de residências. Florianópolis: FIESC, 2022. Disponível em: https://fiesc.com.br/pt-br/imprensa/desperdicio-eletrico-no-brasil-equivale-ao-consumo-de-20-milhoes-de-residencias. Acesso em: 12 set. 2026.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2026-09-12T15:40:09Z</dcterms:created>
  <dcterms:modified xsi:type="dcterms:W3CDTF">2026-09-12T15:40:09Z</dcterms:modified>
</cp:coreProperties>
</file>